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7" r:id="rId9"/>
    <p:sldId id="266" r:id="rId10"/>
    <p:sldId id="271" r:id="rId11"/>
    <p:sldId id="272" r:id="rId12"/>
    <p:sldId id="268" r:id="rId13"/>
    <p:sldId id="275" r:id="rId14"/>
    <p:sldId id="269" r:id="rId15"/>
    <p:sldId id="264" r:id="rId16"/>
  </p:sldIdLst>
  <p:sldSz cx="9144000" cy="5143500" type="screen16x9"/>
  <p:notesSz cx="6858000" cy="9144000"/>
  <p:embeddedFontLst>
    <p:embeddedFont>
      <p:font typeface="Average" panose="020B0604020202020204" charset="0"/>
      <p:regular r:id="rId18"/>
    </p:embeddedFont>
    <p:embeddedFont>
      <p:font typeface="Oswald" panose="00000500000000000000" pitchFamily="2" charset="-52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0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e07b126a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e07b126a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01ae722b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01ae722b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01ae722bc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01ae722bc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01ae722bc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01ae722bc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01ae722bc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01ae722bc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01ae722bc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01ae722bc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462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561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799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01ae722bc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01ae722bc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609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01ae722bc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01ae722bc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0" y="1283877"/>
            <a:ext cx="7801500" cy="17010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b="1" kern="0" dirty="0" err="1">
                <a:effectLst/>
                <a:latin typeface="Arial" panose="020B0604020202020204" pitchFamily="34" charset="0"/>
              </a:rPr>
              <a:t>Walmart</a:t>
            </a:r>
            <a:r>
              <a:rPr lang="ru-RU" b="1" kern="0" dirty="0">
                <a:effectLst/>
                <a:latin typeface="Arial" panose="020B0604020202020204" pitchFamily="34" charset="0"/>
              </a:rPr>
              <a:t> Sales</a:t>
            </a:r>
            <a:r>
              <a:rPr lang="en-US" b="1" kern="0" dirty="0">
                <a:effectLst/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-</a:t>
            </a:r>
            <a:br>
              <a:rPr lang="en-US" b="1" dirty="0">
                <a:latin typeface="Arial" panose="020B0604020202020204" pitchFamily="34" charset="0"/>
              </a:rPr>
            </a:br>
            <a:r>
              <a:rPr lang="ru-RU" b="1" dirty="0">
                <a:latin typeface="Arial" panose="020B0604020202020204" pitchFamily="34" charset="0"/>
              </a:rPr>
              <a:t>Ли Станислав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Контекст кейса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411901" y="1540212"/>
            <a:ext cx="71430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департаменте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Walmart.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оценить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магазинов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сети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факторы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влияющие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выручку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и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предложить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оптимизации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Задачи проекта</a:t>
            </a:r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116018" y="1685214"/>
            <a:ext cx="1857748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/>
              <a:t>Подготовка данных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ctr">
              <a:buNone/>
            </a:pPr>
            <a:r>
              <a:rPr lang="en-US" sz="1700" dirty="0" err="1"/>
              <a:t>Преобразование</a:t>
            </a:r>
            <a:r>
              <a:rPr lang="en-US" sz="1700" dirty="0"/>
              <a:t> </a:t>
            </a:r>
            <a:r>
              <a:rPr lang="en-US" sz="1700" dirty="0" err="1"/>
              <a:t>типов</a:t>
            </a:r>
            <a:r>
              <a:rPr lang="en-US" sz="1700" dirty="0"/>
              <a:t>, </a:t>
            </a:r>
            <a:r>
              <a:rPr lang="en-US" sz="1700" dirty="0" err="1"/>
              <a:t>проверка</a:t>
            </a:r>
            <a:r>
              <a:rPr lang="en-US" sz="1700" dirty="0"/>
              <a:t> </a:t>
            </a:r>
            <a:r>
              <a:rPr lang="en-US" sz="1700" dirty="0" err="1"/>
              <a:t>пропусков</a:t>
            </a:r>
            <a:endParaRPr lang="en-US" sz="1700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157726" y="1685214"/>
            <a:ext cx="21897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/>
              <a:t>Анализ по магазинам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ctr">
              <a:buNone/>
            </a:pPr>
            <a:r>
              <a:rPr lang="en-US" sz="1700" dirty="0" err="1"/>
              <a:t>Сравнение</a:t>
            </a:r>
            <a:r>
              <a:rPr lang="en-US" sz="1700" dirty="0"/>
              <a:t> </a:t>
            </a:r>
            <a:r>
              <a:rPr lang="en-US" sz="1700" dirty="0" err="1"/>
              <a:t>средних</a:t>
            </a:r>
            <a:r>
              <a:rPr lang="en-US" sz="1700" dirty="0"/>
              <a:t> </a:t>
            </a:r>
            <a:r>
              <a:rPr lang="en-US" sz="1700" dirty="0" err="1"/>
              <a:t>продаж</a:t>
            </a:r>
            <a:r>
              <a:rPr lang="en-US" sz="1700" dirty="0"/>
              <a:t>, </a:t>
            </a:r>
            <a:r>
              <a:rPr lang="en-US" sz="1700" dirty="0" err="1"/>
              <a:t>выявление</a:t>
            </a:r>
            <a:r>
              <a:rPr lang="en-US" sz="1700" dirty="0"/>
              <a:t> </a:t>
            </a:r>
            <a:r>
              <a:rPr lang="en-US" sz="1700" dirty="0" err="1"/>
              <a:t>лидеров</a:t>
            </a:r>
            <a:endParaRPr lang="en-US" sz="1700" dirty="0"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6769446" y="1685214"/>
            <a:ext cx="2415309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/>
              <a:t>Макроэкономика</a:t>
            </a:r>
            <a:br>
              <a:rPr lang="ru" sz="1900" dirty="0"/>
            </a:b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ctr">
              <a:buNone/>
            </a:pPr>
            <a:r>
              <a:rPr lang="ru-RU" dirty="0"/>
              <a:t>Как макроэкономические факторы (CPI, </a:t>
            </a:r>
            <a:r>
              <a:rPr lang="ru-RU" dirty="0" err="1"/>
              <a:t>Unemployment</a:t>
            </a:r>
            <a:r>
              <a:rPr lang="ru-RU" dirty="0"/>
              <a:t>) влияют на продажи в разных регионах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US" sz="1700" dirty="0"/>
          </a:p>
        </p:txBody>
      </p:sp>
      <p:sp>
        <p:nvSpPr>
          <p:cNvPr id="6" name="Google Shape;71;p15">
            <a:extLst>
              <a:ext uri="{FF2B5EF4-FFF2-40B4-BE49-F238E27FC236}">
                <a16:creationId xmlns:a16="http://schemas.microsoft.com/office/drawing/2014/main" id="{688CA530-0F91-4F05-9375-9A0154611FA0}"/>
              </a:ext>
            </a:extLst>
          </p:cNvPr>
          <p:cNvSpPr txBox="1">
            <a:spLocks/>
          </p:cNvSpPr>
          <p:nvPr/>
        </p:nvSpPr>
        <p:spPr>
          <a:xfrm>
            <a:off x="4531386" y="1685214"/>
            <a:ext cx="20541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 algn="ctr">
              <a:buNone/>
            </a:pPr>
            <a:r>
              <a:rPr lang="en-US" sz="1900" dirty="0" err="1"/>
              <a:t>Влияние</a:t>
            </a:r>
            <a:r>
              <a:rPr lang="en-US" sz="1900" dirty="0"/>
              <a:t> </a:t>
            </a:r>
            <a:r>
              <a:rPr lang="en-US" sz="1900" dirty="0" err="1"/>
              <a:t>праздников</a:t>
            </a:r>
            <a:endParaRPr lang="en-US" sz="1900" dirty="0"/>
          </a:p>
          <a:p>
            <a:pPr marL="0" indent="0">
              <a:spcBef>
                <a:spcPts val="1200"/>
              </a:spcBef>
              <a:buFont typeface="Average"/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sz="1700" dirty="0" err="1"/>
              <a:t>Сравнение</a:t>
            </a:r>
            <a:r>
              <a:rPr lang="en-US" sz="1700" dirty="0"/>
              <a:t> </a:t>
            </a:r>
            <a:r>
              <a:rPr lang="en-US" sz="1700" dirty="0" err="1"/>
              <a:t>праздничных</a:t>
            </a:r>
            <a:r>
              <a:rPr lang="en-US" sz="1700" dirty="0"/>
              <a:t> и </a:t>
            </a:r>
            <a:r>
              <a:rPr lang="en-US" sz="1700" dirty="0" err="1"/>
              <a:t>обычных</a:t>
            </a:r>
            <a:r>
              <a:rPr lang="en-US" sz="1700" dirty="0"/>
              <a:t> </a:t>
            </a:r>
            <a:r>
              <a:rPr lang="en-US" sz="1700" dirty="0" err="1"/>
              <a:t>недель</a:t>
            </a:r>
            <a:r>
              <a:rPr lang="ru-RU" sz="1700" dirty="0"/>
              <a:t>, для лучших и худших магазинов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Подготовка данных </a:t>
            </a:r>
            <a:endParaRPr dirty="0"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42543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1. Исходные данные -  </a:t>
            </a:r>
            <a:r>
              <a:rPr lang="en-US" dirty="0"/>
              <a:t>6 435 </a:t>
            </a:r>
            <a:r>
              <a:rPr lang="en-US" dirty="0" err="1"/>
              <a:t>строк</a:t>
            </a:r>
            <a:r>
              <a:rPr lang="en-US" dirty="0"/>
              <a:t>, 9 </a:t>
            </a:r>
            <a:r>
              <a:rPr lang="en-US" dirty="0" err="1"/>
              <a:t>столбцов</a:t>
            </a:r>
            <a:r>
              <a:rPr lang="ru-RU" dirty="0"/>
              <a:t>, Временной </a:t>
            </a:r>
            <a:r>
              <a:rPr lang="ru-RU" dirty="0" err="1"/>
              <a:t>диапозон</a:t>
            </a:r>
            <a:r>
              <a:rPr lang="ru-RU" dirty="0"/>
              <a:t>: 2010-2012гг, 45 магазинов. Анализ охватывает весь трёхлетний период (143 недели на магазин).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2. Был удален безымённый столбец(Столбец0). Пропуски в </a:t>
            </a:r>
            <a:r>
              <a:rPr lang="ru-RU" dirty="0" err="1"/>
              <a:t>датасете</a:t>
            </a:r>
            <a:r>
              <a:rPr lang="ru-RU" dirty="0"/>
              <a:t> отсутствуют. Проверил через функцию(</a:t>
            </a:r>
            <a:r>
              <a:rPr lang="en-US" dirty="0" err="1"/>
              <a:t>isnull</a:t>
            </a:r>
            <a:r>
              <a:rPr lang="en-US" dirty="0"/>
              <a:t>().sum())</a:t>
            </a: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3. Был изменен формат колонок</a:t>
            </a:r>
            <a:r>
              <a:rPr lang="en-US" dirty="0"/>
              <a:t> Date:</a:t>
            </a:r>
            <a:r>
              <a:rPr lang="ru-RU" dirty="0"/>
              <a:t> с</a:t>
            </a:r>
            <a:r>
              <a:rPr lang="en-US" dirty="0"/>
              <a:t> string </a:t>
            </a:r>
            <a:r>
              <a:rPr lang="ru-RU" dirty="0"/>
              <a:t>на</a:t>
            </a:r>
            <a:r>
              <a:rPr lang="en-US" dirty="0"/>
              <a:t> datetime64</a:t>
            </a:r>
            <a:r>
              <a:rPr lang="ru-RU" dirty="0"/>
              <a:t> для работы с датами, </a:t>
            </a:r>
            <a:r>
              <a:rPr lang="en-US" dirty="0" err="1"/>
              <a:t>Holiday_Flag</a:t>
            </a:r>
            <a:r>
              <a:rPr lang="en-US" dirty="0"/>
              <a:t>: int64 </a:t>
            </a:r>
            <a:r>
              <a:rPr lang="ru-RU" dirty="0"/>
              <a:t>на</a:t>
            </a:r>
            <a:r>
              <a:rPr lang="en-US" dirty="0"/>
              <a:t> bool</a:t>
            </a:r>
            <a:r>
              <a:rPr lang="ru-RU" dirty="0"/>
              <a:t> для более удобного использования в дальнейшем.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4. Столбцы </a:t>
            </a:r>
            <a:r>
              <a:rPr lang="ru-RU" dirty="0" err="1"/>
              <a:t>Temperature</a:t>
            </a:r>
            <a:r>
              <a:rPr lang="ru-RU" dirty="0"/>
              <a:t> и </a:t>
            </a:r>
            <a:r>
              <a:rPr lang="ru-RU" dirty="0" err="1"/>
              <a:t>Fuel_Price</a:t>
            </a:r>
            <a:r>
              <a:rPr lang="ru-RU" dirty="0"/>
              <a:t> оставлены без изменений. В задании они не фигурируют как основные факторы.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9CA54-0616-47D4-AD1F-BEDFA422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2245" y="1781032"/>
            <a:ext cx="417004" cy="205683"/>
          </a:xfrm>
        </p:spPr>
        <p:txBody>
          <a:bodyPr>
            <a:normAutofit fontScale="90000"/>
          </a:bodyPr>
          <a:lstStyle/>
          <a:p>
            <a:endParaRPr lang="ru-RU" sz="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9B2CC2-DD5A-4F07-81B4-FCC907DDE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1755" y="1937983"/>
            <a:ext cx="1339679" cy="1880266"/>
          </a:xfrm>
        </p:spPr>
        <p:txBody>
          <a:bodyPr/>
          <a:lstStyle/>
          <a:p>
            <a:pPr marL="11430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476376-8BB2-437A-A4DD-03E82B072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9316" y="1364776"/>
            <a:ext cx="3574237" cy="266813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956AEB-2D2F-44F4-A41E-6D079D5C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198" y="1364776"/>
            <a:ext cx="4113486" cy="266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4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Исследовательский анализ</a:t>
            </a:r>
            <a:endParaRPr dirty="0"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500" dirty="0">
                <a:latin typeface="Arial" panose="020B0604020202020204" pitchFamily="34" charset="0"/>
              </a:rPr>
              <a:t>1.Проведите сравнительный анализ продаж по магазинам за год.</a:t>
            </a:r>
            <a:endParaRPr lang="ru-RU" altLang="ru-RU" sz="15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500" dirty="0">
                <a:latin typeface="Arial" panose="020B0604020202020204" pitchFamily="34" charset="0"/>
              </a:rPr>
              <a:t>2. Посчитали среднюю выручку по каждому из 45 магазинов. Отсортировали по убыванию.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500" dirty="0">
                <a:latin typeface="Arial" panose="020B0604020202020204" pitchFamily="34" charset="0"/>
              </a:rPr>
              <a:t>Покрасили зелёным топ-5 магазинов, красным — нижние 5, серым — остальные.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500" dirty="0">
                <a:latin typeface="Arial" panose="020B0604020202020204" pitchFamily="34" charset="0"/>
              </a:rPr>
              <a:t>Добавили горизонтальную пунктирную линию — среднее по всем магазинам </a:t>
            </a:r>
            <a:endParaRPr lang="ru-RU" sz="1500" dirty="0">
              <a:latin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500" dirty="0">
                <a:latin typeface="Arial" panose="020B0604020202020204" pitchFamily="34" charset="0"/>
              </a:rPr>
              <a:t>3.Лидеры (#20, #4, #14, </a:t>
            </a:r>
            <a:r>
              <a:rPr lang="en-US" sz="1500" dirty="0">
                <a:latin typeface="Arial" panose="020B0604020202020204" pitchFamily="34" charset="0"/>
              </a:rPr>
              <a:t>#13, #2</a:t>
            </a:r>
            <a:r>
              <a:rPr lang="ru-RU" sz="1500" dirty="0">
                <a:latin typeface="Arial" panose="020B0604020202020204" pitchFamily="34" charset="0"/>
              </a:rPr>
              <a:t>) — около $2M/</a:t>
            </a:r>
            <a:r>
              <a:rPr lang="ru-RU" sz="1500" dirty="0" err="1">
                <a:latin typeface="Arial" panose="020B0604020202020204" pitchFamily="34" charset="0"/>
              </a:rPr>
              <a:t>нед</a:t>
            </a:r>
            <a:r>
              <a:rPr lang="ru-RU" sz="1500" dirty="0">
                <a:latin typeface="Arial" panose="020B0604020202020204" pitchFamily="34" charset="0"/>
              </a:rPr>
              <a:t> что на 100-115% выше среднего, разрыв с аутсайдерами (#33, #44</a:t>
            </a:r>
            <a:r>
              <a:rPr lang="en-US" sz="1500" dirty="0">
                <a:latin typeface="Arial" panose="020B0604020202020204" pitchFamily="34" charset="0"/>
              </a:rPr>
              <a:t>, #5, #6, #38</a:t>
            </a:r>
            <a:r>
              <a:rPr lang="ru-RU" sz="1500" dirty="0">
                <a:latin typeface="Arial" panose="020B0604020202020204" pitchFamily="34" charset="0"/>
              </a:rPr>
              <a:t>) — 7× раз и на 75% ниже среднего(0,25-0,4 млн.). Магазины #33 и #44 (&lt;$310K/</a:t>
            </a:r>
            <a:r>
              <a:rPr lang="ru-RU" sz="1500" dirty="0" err="1">
                <a:latin typeface="Arial" panose="020B0604020202020204" pitchFamily="34" charset="0"/>
              </a:rPr>
              <a:t>нед</a:t>
            </a:r>
            <a:r>
              <a:rPr lang="ru-RU" sz="1500" dirty="0">
                <a:latin typeface="Arial" panose="020B0604020202020204" pitchFamily="34" charset="0"/>
              </a:rPr>
              <a:t>) требуют пересмотра формата или закрытия</a:t>
            </a:r>
            <a:endParaRPr sz="15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Исследовательский анализ</a:t>
            </a:r>
            <a:endParaRPr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728345" y="4462817"/>
            <a:ext cx="129655" cy="106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D367FD-7B04-40A4-90D7-91AA4E193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32" y="1277493"/>
            <a:ext cx="8301136" cy="3646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Исследовательский анализ</a:t>
            </a:r>
            <a:endParaRPr dirty="0"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Arial" panose="020B0604020202020204" pitchFamily="34" charset="0"/>
              </a:rPr>
              <a:t>1. Проанализируйте влияние праздников на продажи в каждом магазине сети.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latin typeface="Arial" panose="020B0604020202020204" pitchFamily="34" charset="0"/>
              </a:rPr>
              <a:t>2. </a:t>
            </a:r>
            <a:r>
              <a:rPr lang="ru-RU" altLang="ru-RU" dirty="0">
                <a:latin typeface="Arial" panose="020B0604020202020204" pitchFamily="34" charset="0"/>
              </a:rPr>
              <a:t>Взяли 3 лучших и 3 худших магазина из предыдущего графика. Для каждого сравнили распределение продаж в праздничные и обычные недели . Посчитали </a:t>
            </a:r>
            <a:r>
              <a:rPr lang="ru-RU" altLang="ru-RU" dirty="0" err="1">
                <a:latin typeface="Arial" panose="020B0604020202020204" pitchFamily="34" charset="0"/>
              </a:rPr>
              <a:t>lift</a:t>
            </a:r>
            <a:r>
              <a:rPr lang="ru-RU" altLang="ru-RU" dirty="0">
                <a:latin typeface="Arial" panose="020B0604020202020204" pitchFamily="34" charset="0"/>
              </a:rPr>
              <a:t> — насколько % праздники поднимают продажи. </a:t>
            </a:r>
            <a:r>
              <a:rPr lang="ru-RU" dirty="0" err="1">
                <a:latin typeface="Arial" panose="020B0604020202020204" pitchFamily="34" charset="0"/>
              </a:rPr>
              <a:t>Боксплот</a:t>
            </a:r>
            <a:r>
              <a:rPr lang="ru-RU" dirty="0">
                <a:latin typeface="Arial" panose="020B0604020202020204" pitchFamily="34" charset="0"/>
              </a:rPr>
              <a:t> хорошо показывает не только среднее, но и разброс — видно, стабильны ли всплески.</a:t>
            </a:r>
            <a:endParaRPr lang="ru-RU" altLang="ru-RU" dirty="0">
              <a:latin typeface="Arial" panose="020B060402020202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Arial" panose="020B0604020202020204" pitchFamily="34" charset="0"/>
              </a:rPr>
              <a:t>3. Праздники влияют неодинаково. Магазины-лидеры показывают прирост +5-7% в праздничные периоды — </a:t>
            </a:r>
            <a:r>
              <a:rPr lang="en-US" dirty="0" err="1">
                <a:latin typeface="Arial" panose="020B0604020202020204" pitchFamily="34" charset="0"/>
              </a:rPr>
              <a:t>максимально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используют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праздничный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трафик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через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агрессивные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акции</a:t>
            </a:r>
            <a:r>
              <a:rPr lang="ru-RU" dirty="0">
                <a:latin typeface="Arial" panose="020B0604020202020204" pitchFamily="34" charset="0"/>
              </a:rPr>
              <a:t>. Слабые магазины (38, 36) в праздники не только не растут — они немного падают. Это говорит о том, что их проблема не в сезонности, а в чём-то структурном: локация, размер, ассортимент. Магазин 5 — аномалия: слабый по выручке, но праздники дают ему +14.2% — значит, потенциал есть.</a:t>
            </a:r>
            <a:endParaRPr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008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Исследовательский анализ</a:t>
            </a:r>
            <a:endParaRPr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406673" y="1756523"/>
            <a:ext cx="2498453" cy="2372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4BD32E-0E4F-4B54-82D9-49D8CE919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54" y="1166884"/>
            <a:ext cx="7686492" cy="384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64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623400" y="475016"/>
            <a:ext cx="36483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Бизнес-вопрос</a:t>
            </a:r>
            <a:endParaRPr dirty="0"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7811145" y="225110"/>
            <a:ext cx="418455" cy="30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A6781-98A4-4DFC-B631-FE6644D6760A}"/>
              </a:ext>
            </a:extLst>
          </p:cNvPr>
          <p:cNvSpPr txBox="1"/>
          <p:nvPr/>
        </p:nvSpPr>
        <p:spPr>
          <a:xfrm>
            <a:off x="508379" y="1150480"/>
            <a:ext cx="812724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3"/>
                </a:solidFill>
              </a:rPr>
              <a:t>1. Исследуйте, как </a:t>
            </a:r>
            <a:r>
              <a:rPr lang="ru-RU" sz="1200" dirty="0">
                <a:solidFill>
                  <a:schemeClr val="accent3"/>
                </a:solidFill>
                <a:sym typeface="Average"/>
              </a:rPr>
              <a:t>макроэкономические</a:t>
            </a:r>
            <a:r>
              <a:rPr lang="ru-RU" sz="1200" dirty="0">
                <a:solidFill>
                  <a:schemeClr val="accent3"/>
                </a:solidFill>
              </a:rPr>
              <a:t> факторы (CPI, </a:t>
            </a:r>
            <a:r>
              <a:rPr lang="ru-RU" sz="1200" dirty="0" err="1">
                <a:solidFill>
                  <a:schemeClr val="accent3"/>
                </a:solidFill>
              </a:rPr>
              <a:t>Unemployment</a:t>
            </a:r>
            <a:r>
              <a:rPr lang="ru-RU" sz="1200" dirty="0">
                <a:solidFill>
                  <a:schemeClr val="accent3"/>
                </a:solidFill>
              </a:rPr>
              <a:t>) влияют на продажи в разных регионах.</a:t>
            </a:r>
          </a:p>
          <a:p>
            <a:br>
              <a:rPr lang="ru-RU" sz="1200" dirty="0">
                <a:solidFill>
                  <a:schemeClr val="accent3"/>
                </a:solidFill>
              </a:rPr>
            </a:br>
            <a:r>
              <a:rPr lang="ru-RU" sz="1200" dirty="0">
                <a:solidFill>
                  <a:schemeClr val="accent3"/>
                </a:solidFill>
              </a:rPr>
              <a:t>2. Для каждого из 45 магазинов рассчитывались:</a:t>
            </a:r>
            <a:br>
              <a:rPr lang="ru-RU" sz="1200" dirty="0">
                <a:solidFill>
                  <a:schemeClr val="accent3"/>
                </a:solidFill>
              </a:rPr>
            </a:br>
            <a:r>
              <a:rPr lang="ru-RU" sz="1200" dirty="0">
                <a:solidFill>
                  <a:schemeClr val="accent3"/>
                </a:solidFill>
              </a:rPr>
              <a:t>r (</a:t>
            </a:r>
            <a:r>
              <a:rPr lang="ru-RU" sz="1200" dirty="0" err="1">
                <a:solidFill>
                  <a:schemeClr val="accent3"/>
                </a:solidFill>
              </a:rPr>
              <a:t>Unemployment</a:t>
            </a:r>
            <a:r>
              <a:rPr lang="ru-RU" sz="1200" dirty="0">
                <a:solidFill>
                  <a:schemeClr val="accent3"/>
                </a:solidFill>
              </a:rPr>
              <a:t>) — корреляция между уровнем безработицы и недельными продажами</a:t>
            </a:r>
            <a:br>
              <a:rPr lang="ru-RU" sz="1200" dirty="0">
                <a:solidFill>
                  <a:schemeClr val="accent3"/>
                </a:solidFill>
              </a:rPr>
            </a:br>
            <a:r>
              <a:rPr lang="ru-RU" sz="1200" dirty="0">
                <a:solidFill>
                  <a:schemeClr val="accent3"/>
                </a:solidFill>
              </a:rPr>
              <a:t>r (CPI) — корреляция между индексом потребительских цен и продажами. Построили </a:t>
            </a:r>
            <a:r>
              <a:rPr lang="ru-RU" sz="1200" dirty="0" err="1">
                <a:solidFill>
                  <a:schemeClr val="accent3"/>
                </a:solidFill>
              </a:rPr>
              <a:t>scatter-plot</a:t>
            </a:r>
            <a:r>
              <a:rPr lang="ru-RU" sz="1200" dirty="0">
                <a:solidFill>
                  <a:schemeClr val="accent3"/>
                </a:solidFill>
              </a:rPr>
              <a:t> для каждого магазина: по оси X — макроэкономика, по Y — продажи . Добавили линию регрессии и коэффициент корреляции r 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ru-RU" sz="1200" dirty="0">
                <a:solidFill>
                  <a:schemeClr val="accent3"/>
                </a:solidFill>
              </a:rPr>
            </a:br>
            <a:r>
              <a:rPr lang="ru-RU" sz="1200" dirty="0">
                <a:solidFill>
                  <a:schemeClr val="accent3"/>
                </a:solidFill>
              </a:rPr>
              <a:t>3. </a:t>
            </a:r>
            <a:r>
              <a:rPr lang="ru-RU" altLang="ru-RU" sz="1200" dirty="0">
                <a:solidFill>
                  <a:schemeClr val="accent3"/>
                </a:solidFill>
              </a:rPr>
              <a:t>Магазины №36, №38, №44 — это небольшие магазины (продажи $303–386K/</a:t>
            </a:r>
            <a:r>
              <a:rPr lang="ru-RU" altLang="ru-RU" sz="1200" dirty="0" err="1">
                <a:solidFill>
                  <a:schemeClr val="accent3"/>
                </a:solidFill>
              </a:rPr>
              <a:t>нед</a:t>
            </a:r>
            <a:r>
              <a:rPr lang="ru-RU" altLang="ru-RU" sz="1200" dirty="0">
                <a:solidFill>
                  <a:schemeClr val="accent3"/>
                </a:solidFill>
              </a:rPr>
              <a:t>.) с высокой зависимостью от экономики. Корреляция r &gt; 0.7–0.9 говорит о том, что поведение их покупателей напрямую следует за безработицей и инфляцией. Показательно, что №36 и №38 — антиподы: у 36-го продажи растут с безработицей и падают с CPI; у 38-го — наоборот. Это может означать разный социальный профиль районов и разную ценовую чувствительность аудитории. </a:t>
            </a:r>
            <a:r>
              <a:rPr lang="ru-RU" sz="1200" dirty="0">
                <a:solidFill>
                  <a:schemeClr val="accent3"/>
                </a:solidFill>
              </a:rPr>
              <a:t>Большинство магазинов — около 25 из 45 — показывают слабую корреляцию с обоими показателями. Их продажи определяются преимущественно внутренними факторами: локацией, ассортиментом, сезонностью, операционным качеством.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dirty="0">
                <a:solidFill>
                  <a:schemeClr val="accent3"/>
                </a:solidFill>
              </a:rPr>
              <a:t>Примеры самых «иммунных»: №1, №11, №24, №25, №37, №45 — корреляции &lt; 0.1 по обоим индикаторам.</a:t>
            </a:r>
            <a:endParaRPr lang="ru-RU" altLang="ru-RU" sz="1200" dirty="0">
              <a:solidFill>
                <a:schemeClr val="accent3"/>
              </a:solidFill>
            </a:endParaRPr>
          </a:p>
          <a:p>
            <a:endParaRPr lang="ru-RU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50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3085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Исследовательский анализ</a:t>
            </a:r>
            <a:endParaRPr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406673" y="1756523"/>
            <a:ext cx="2498453" cy="2372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648580-E023-4A34-807B-F412FF7CD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59" y="1069070"/>
            <a:ext cx="8574679" cy="38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19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95785" y="204282"/>
            <a:ext cx="3896436" cy="423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Магазины с наибольшей чувствительностью к макроэкономике</a:t>
            </a:r>
            <a:endParaRPr sz="2000"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406674" y="1756523"/>
            <a:ext cx="428348" cy="256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FC436C-278E-4782-93B2-BA0751FF2722}"/>
              </a:ext>
            </a:extLst>
          </p:cNvPr>
          <p:cNvSpPr txBox="1"/>
          <p:nvPr/>
        </p:nvSpPr>
        <p:spPr>
          <a:xfrm>
            <a:off x="4660708" y="3240026"/>
            <a:ext cx="4483289" cy="183523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00C99-FED9-40C3-B3DA-3E0F32963182}"/>
              </a:ext>
            </a:extLst>
          </p:cNvPr>
          <p:cNvSpPr txBox="1"/>
          <p:nvPr/>
        </p:nvSpPr>
        <p:spPr>
          <a:xfrm>
            <a:off x="0" y="3240026"/>
            <a:ext cx="4483289" cy="183523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7B1AC-BD6B-405E-9A42-CFD97D023DEF}"/>
              </a:ext>
            </a:extLst>
          </p:cNvPr>
          <p:cNvSpPr txBox="1"/>
          <p:nvPr/>
        </p:nvSpPr>
        <p:spPr>
          <a:xfrm>
            <a:off x="-1" y="1227369"/>
            <a:ext cx="4483289" cy="183523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F913F-6B31-4492-99B4-D458EF60E450}"/>
              </a:ext>
            </a:extLst>
          </p:cNvPr>
          <p:cNvSpPr txBox="1"/>
          <p:nvPr/>
        </p:nvSpPr>
        <p:spPr>
          <a:xfrm>
            <a:off x="4660711" y="1227369"/>
            <a:ext cx="4483289" cy="1835236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12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225186" y="343870"/>
            <a:ext cx="5240741" cy="423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/>
              <a:t>Магазины устойчивые к макроэкономике</a:t>
            </a:r>
            <a:endParaRPr sz="2400"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406674" y="1756523"/>
            <a:ext cx="428348" cy="256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FC436C-278E-4782-93B2-BA0751FF2722}"/>
              </a:ext>
            </a:extLst>
          </p:cNvPr>
          <p:cNvSpPr txBox="1"/>
          <p:nvPr/>
        </p:nvSpPr>
        <p:spPr>
          <a:xfrm>
            <a:off x="4660710" y="1200074"/>
            <a:ext cx="4483289" cy="183523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00C99-FED9-40C3-B3DA-3E0F32963182}"/>
              </a:ext>
            </a:extLst>
          </p:cNvPr>
          <p:cNvSpPr txBox="1"/>
          <p:nvPr/>
        </p:nvSpPr>
        <p:spPr>
          <a:xfrm>
            <a:off x="0" y="3240027"/>
            <a:ext cx="4483289" cy="183523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7B1AC-BD6B-405E-9A42-CFD97D023DEF}"/>
              </a:ext>
            </a:extLst>
          </p:cNvPr>
          <p:cNvSpPr txBox="1"/>
          <p:nvPr/>
        </p:nvSpPr>
        <p:spPr>
          <a:xfrm>
            <a:off x="0" y="1200074"/>
            <a:ext cx="4483289" cy="183523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F913F-6B31-4492-99B4-D458EF60E450}"/>
              </a:ext>
            </a:extLst>
          </p:cNvPr>
          <p:cNvSpPr txBox="1"/>
          <p:nvPr/>
        </p:nvSpPr>
        <p:spPr>
          <a:xfrm>
            <a:off x="4660711" y="3240026"/>
            <a:ext cx="4483289" cy="1835236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567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59467" y="18936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Рекомендации</a:t>
            </a:r>
            <a:endParaRPr dirty="0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847128"/>
            <a:ext cx="8520600" cy="4107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Mona Sans VF"/>
              </a:rPr>
              <a:t>   </a:t>
            </a:r>
            <a:r>
              <a:rPr lang="ru-RU" sz="1600" b="1" dirty="0">
                <a:solidFill>
                  <a:srgbClr val="F0F6FC"/>
                </a:solidFill>
                <a:latin typeface="Mona Sans VF"/>
              </a:rPr>
              <a:t>По разнице в продажах</a:t>
            </a:r>
          </a:p>
          <a:p>
            <a:pPr marL="114300" indent="0" algn="l">
              <a:buNone/>
            </a:pPr>
            <a:r>
              <a:rPr lang="ru-RU" sz="1050" dirty="0"/>
              <a:t>Лидеры зарабатывают в 8 раз больше аутсайдеров, и это не связано с экономикой региона. Значит нужно изучить что общего у магазинов 20, 4, 14 — площадь, локация, управление — и перенести это на отстающих. Магазины 33 и 44 с выручкой менее 0.3 млн $ требуют отдельного аудита: необходимо проверить трафик, площадь и конкурентную среду — и только после этого принимать решение о реструктуризации или закрытии</a:t>
            </a:r>
          </a:p>
          <a:p>
            <a:pPr marL="114300" indent="0" algn="l">
              <a:buNone/>
            </a:pPr>
            <a:endParaRPr lang="ru-RU" sz="16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Mona Sans VF"/>
              </a:rPr>
              <a:t>   </a:t>
            </a:r>
            <a:r>
              <a:rPr lang="ru-RU" sz="1600" b="1" dirty="0">
                <a:solidFill>
                  <a:srgbClr val="F0F6FC"/>
                </a:solidFill>
                <a:latin typeface="Mona Sans VF"/>
              </a:rPr>
              <a:t>По праздникам </a:t>
            </a:r>
          </a:p>
          <a:p>
            <a:pPr marL="114300" indent="0">
              <a:buNone/>
            </a:pPr>
            <a:r>
              <a:rPr lang="ru-RU" sz="1050" dirty="0"/>
              <a:t>Сильные магазины хорошо реагируют на праздники (+7–8%) — туда стоит вкладывать больше в маркетинг и запасы в сезон. Магазины 38 и 36 в праздники </a:t>
            </a:r>
            <a:r>
              <a:rPr lang="ru-RU" sz="1050" b="1" dirty="0"/>
              <a:t>теряют</a:t>
            </a:r>
            <a:r>
              <a:rPr lang="ru-RU" sz="1050" dirty="0"/>
              <a:t> выручку — нужно разобраться отдельно: возможно, конкуренты рядом или проблемы с логистикой. Магазин 5 даёт рекордный прирост +14.2% в праздники при слабой базовой выручке — стоит протестировать праздничный подход на постоянной основе.</a:t>
            </a:r>
          </a:p>
          <a:p>
            <a:pPr marL="114300" indent="0">
              <a:buNone/>
            </a:pPr>
            <a:endParaRPr lang="ru-RU" sz="1050" dirty="0">
              <a:solidFill>
                <a:srgbClr val="F0F6FC"/>
              </a:solidFill>
              <a:latin typeface="Mona Sans VF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Mona Sans VF"/>
              </a:rPr>
              <a:t>     </a:t>
            </a:r>
            <a:r>
              <a:rPr lang="ru-RU" sz="1600" b="1" dirty="0">
                <a:solidFill>
                  <a:srgbClr val="F0F6FC"/>
                </a:solidFill>
                <a:latin typeface="Mona Sans VF"/>
              </a:rPr>
              <a:t>По макроэкономике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 чувствительных магазинов: </a:t>
            </a:r>
            <a:r>
              <a:rPr lang="ru-RU" altLang="ru-RU" sz="1050" dirty="0"/>
              <a:t>Завести дешёвые товары под своей маркой — когда цены растут, люди не уходят, просто берут подешевле. Следить за новостями об инфляции и безработице — и заранее делать скидки, пока покупатели ещё не убежали.</a:t>
            </a:r>
            <a:endParaRPr lang="en-US" altLang="ru-RU" sz="105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05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05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ru-RU" altLang="ru-RU" sz="1200" dirty="0">
                <a:solidFill>
                  <a:schemeClr val="tx1"/>
                </a:solidFill>
                <a:latin typeface="Arial" panose="020B0604020202020204" pitchFamily="34" charset="0"/>
              </a:rPr>
              <a:t>Для стабильных магазинов: </a:t>
            </a:r>
            <a:r>
              <a:rPr lang="ru-RU" altLang="ru-RU" sz="1050" dirty="0"/>
              <a:t>Пробовать здесь всё новое: кассы самообслуживания, доставку, новые отделы — если что-то пойдёт не так, магазин не просядет. В плохие времена деньги отсюда можно направлять на поддержку слабых магазинов сети. Разобраться почему они такие стабильные — и повторить это в других магазинах </a:t>
            </a:r>
          </a:p>
        </p:txBody>
      </p:sp>
    </p:spTree>
    <p:extLst>
      <p:ext uri="{BB962C8B-B14F-4D97-AF65-F5344CB8AC3E}">
        <p14:creationId xmlns:p14="http://schemas.microsoft.com/office/powerpoint/2010/main" val="2740417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Заключение 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ru-RU" dirty="0"/>
              <a:t>Проведённый анализ данных о еженедельных продажах магазинов сети </a:t>
            </a:r>
            <a:r>
              <a:rPr lang="ru-RU" dirty="0" err="1"/>
              <a:t>Walmart</a:t>
            </a:r>
            <a:r>
              <a:rPr lang="ru-RU" dirty="0"/>
              <a:t> позволил выявить ряд значимых закономерностей.</a:t>
            </a:r>
            <a:endParaRPr lang="en-US" dirty="0"/>
          </a:p>
          <a:p>
            <a:pPr marL="114300" indent="0">
              <a:buNone/>
            </a:pPr>
            <a:endParaRPr lang="ru-RU" dirty="0"/>
          </a:p>
          <a:p>
            <a:r>
              <a:rPr lang="ru-RU" dirty="0"/>
              <a:t>Между торговыми точками сети наблюдается огромная разница по уровню выручки: разрыв между наиболее и наименее эффективными магазинами достигает восьмикратного значения. При этом большинство магазинов демонстрируют показатели ниже среднего по сети, тогда как высокие значения среднего обеспечиваются небольшим числом лидирующих точек.</a:t>
            </a:r>
            <a:endParaRPr lang="en-US" dirty="0"/>
          </a:p>
          <a:p>
            <a:pPr marL="114300" indent="0">
              <a:buNone/>
            </a:pPr>
            <a:endParaRPr lang="ru-RU" dirty="0"/>
          </a:p>
          <a:p>
            <a:r>
              <a:rPr lang="ru-RU" dirty="0"/>
              <a:t>Анализ влияния праздничных периодов показал, что сезонный спрос оказывает неодинаковое воздействие на магазины в зависимости от их базового уровня эффективности. Успешные магазины используют праздничные периоды как дополнительный драйвер роста, тогда как ряд отстающих точек фиксирует отрицательную динамику даже в пиковые недели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ru-RU" dirty="0"/>
          </a:p>
          <a:p>
            <a:r>
              <a:rPr lang="ru-RU" dirty="0"/>
              <a:t>Анализ 45 магазинов </a:t>
            </a:r>
            <a:r>
              <a:rPr lang="ru-RU" dirty="0" err="1"/>
              <a:t>Walmart</a:t>
            </a:r>
            <a:r>
              <a:rPr lang="ru-RU" dirty="0"/>
              <a:t> показал, что небольшие магазины значительно чувствительнее к изменениям CPI и безработицы, чем крупные. В отдельных случаях корреляция достигает 0.8–0.9, что означает прямую зависимость выручки от экономической ситуации в регионе. Крупные магазины в большинстве своём устойчивы — их продажи определяются внутренними факторами.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11891</TotalTime>
  <Words>1123</Words>
  <Application>Microsoft Office PowerPoint</Application>
  <PresentationFormat>Экран (16:9)</PresentationFormat>
  <Paragraphs>63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Mona Sans VF</vt:lpstr>
      <vt:lpstr>Oswald</vt:lpstr>
      <vt:lpstr>Arial</vt:lpstr>
      <vt:lpstr>Average</vt:lpstr>
      <vt:lpstr>Slate</vt:lpstr>
      <vt:lpstr>Walmart Sales - Ли Станислав</vt:lpstr>
      <vt:lpstr>Контекст кейса</vt:lpstr>
      <vt:lpstr>Задачи проекта</vt:lpstr>
      <vt:lpstr>Подготовка данных </vt:lpstr>
      <vt:lpstr>Презентация PowerPoint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Бизнес-вопрос</vt:lpstr>
      <vt:lpstr>Исследовательский анализ</vt:lpstr>
      <vt:lpstr>Магазины с наибольшей чувствительностью к макроэкономике</vt:lpstr>
      <vt:lpstr>Магазины устойчивые к макроэкономике</vt:lpstr>
      <vt:lpstr>Рекомендации</vt:lpstr>
      <vt:lpstr>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Sales - Ли Станислав</dc:title>
  <dc:creator>Asus</dc:creator>
  <cp:lastModifiedBy>Ли Стас</cp:lastModifiedBy>
  <cp:revision>41</cp:revision>
  <dcterms:modified xsi:type="dcterms:W3CDTF">2026-05-19T11:08:57Z</dcterms:modified>
</cp:coreProperties>
</file>